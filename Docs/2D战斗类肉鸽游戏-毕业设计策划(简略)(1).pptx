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63" r:id="rId6"/>
    <p:sldId id="264" r:id="rId7"/>
    <p:sldId id="266" r:id="rId8"/>
    <p:sldId id="268" r:id="rId9"/>
    <p:sldId id="265" r:id="rId10"/>
    <p:sldId id="267" r:id="rId11"/>
    <p:sldId id="269" r:id="rId12"/>
    <p:sldId id="275" r:id="rId13"/>
    <p:sldId id="277" r:id="rId14"/>
    <p:sldId id="278" r:id="rId15"/>
    <p:sldId id="279" r:id="rId16"/>
    <p:sldId id="281" r:id="rId17"/>
    <p:sldId id="282" r:id="rId18"/>
    <p:sldId id="283" r:id="rId19"/>
    <p:sldId id="28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9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9" Type="http://schemas.openxmlformats.org/officeDocument/2006/relationships/image" Target="../media/image41.jpeg"/><Relationship Id="rId18" Type="http://schemas.openxmlformats.org/officeDocument/2006/relationships/image" Target="../media/image40.jpeg"/><Relationship Id="rId17" Type="http://schemas.openxmlformats.org/officeDocument/2006/relationships/image" Target="../media/image39.jpeg"/><Relationship Id="rId16" Type="http://schemas.openxmlformats.org/officeDocument/2006/relationships/image" Target="../media/image38.jpeg"/><Relationship Id="rId15" Type="http://schemas.openxmlformats.org/officeDocument/2006/relationships/image" Target="../media/image37.jpeg"/><Relationship Id="rId14" Type="http://schemas.openxmlformats.org/officeDocument/2006/relationships/image" Target="../media/image36.jpeg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9" Type="http://schemas.openxmlformats.org/officeDocument/2006/relationships/image" Target="../media/image60.jpeg"/><Relationship Id="rId18" Type="http://schemas.openxmlformats.org/officeDocument/2006/relationships/image" Target="../media/image59.GIF"/><Relationship Id="rId17" Type="http://schemas.openxmlformats.org/officeDocument/2006/relationships/image" Target="../media/image58.jpeg"/><Relationship Id="rId16" Type="http://schemas.openxmlformats.org/officeDocument/2006/relationships/image" Target="../media/image57.jpeg"/><Relationship Id="rId15" Type="http://schemas.openxmlformats.org/officeDocument/2006/relationships/image" Target="../media/image56.jpeg"/><Relationship Id="rId14" Type="http://schemas.openxmlformats.org/officeDocument/2006/relationships/image" Target="../media/image55.jpeg"/><Relationship Id="rId13" Type="http://schemas.openxmlformats.org/officeDocument/2006/relationships/image" Target="../media/image54.jpeg"/><Relationship Id="rId12" Type="http://schemas.openxmlformats.org/officeDocument/2006/relationships/image" Target="../media/image53.webp"/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1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1.jpeg"/><Relationship Id="rId1" Type="http://schemas.openxmlformats.org/officeDocument/2006/relationships/image" Target="../media/image70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5.jpeg"/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image" Target="../media/image72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9.jpeg"/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image" Target="../media/image7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jpeg"/><Relationship Id="rId8" Type="http://schemas.openxmlformats.org/officeDocument/2006/relationships/image" Target="../media/image88.jpeg"/><Relationship Id="rId7" Type="http://schemas.openxmlformats.org/officeDocument/2006/relationships/image" Target="../media/image87.jpeg"/><Relationship Id="rId6" Type="http://schemas.openxmlformats.org/officeDocument/2006/relationships/image" Target="../media/image86.jpeg"/><Relationship Id="rId5" Type="http://schemas.openxmlformats.org/officeDocument/2006/relationships/image" Target="../media/image85.jpeg"/><Relationship Id="rId4" Type="http://schemas.openxmlformats.org/officeDocument/2006/relationships/image" Target="../media/image84.jpeg"/><Relationship Id="rId3" Type="http://schemas.openxmlformats.org/officeDocument/2006/relationships/image" Target="../media/image83.jpeg"/><Relationship Id="rId2" Type="http://schemas.openxmlformats.org/officeDocument/2006/relationships/tags" Target="../tags/tag6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285875"/>
            <a:ext cx="70485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2D</a:t>
            </a:r>
            <a:r>
              <a:rPr lang="zh-CN"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战斗类</a:t>
            </a:r>
            <a:r>
              <a: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肉鸽游戏</a:t>
            </a:r>
            <a:endParaRPr sz="3900" b="1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21145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524"/>
          </a:bodyPr>
          <a:lstStyle/>
          <a:p>
            <a:pPr>
              <a:defRPr sz="2100" b="0">
                <a:solidFill>
                  <a:srgbClr val="59E4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0">
                <a:solidFill>
                  <a:srgbClr val="59E4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毕业设计策划方案</a:t>
            </a:r>
            <a:endParaRPr sz="2100" b="0">
              <a:solidFill>
                <a:srgbClr val="59E4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4515" y="465455"/>
            <a:ext cx="4116070" cy="2298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20" y="2947035"/>
            <a:ext cx="4685030" cy="26644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10" y="2992120"/>
            <a:ext cx="4532630" cy="2619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3000375" y="1590675"/>
            <a:ext cx="1952625" cy="1704975"/>
          </a:xfrm>
          <a:prstGeom prst="line">
            <a:avLst/>
          </a:prstGeom>
          <a:ln w="19050">
            <a:solidFill>
              <a:srgbClr val="5375A8"/>
            </a:solidFill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 rot="5940000">
            <a:off x="2969260" y="3423920"/>
            <a:ext cx="1952625" cy="1885950"/>
          </a:xfrm>
          <a:prstGeom prst="line">
            <a:avLst/>
          </a:prstGeom>
          <a:ln w="19050">
            <a:solidFill>
              <a:srgbClr val="5375A8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0" y="3638550"/>
            <a:ext cx="0" cy="1457325"/>
          </a:xfrm>
          <a:prstGeom prst="line">
            <a:avLst/>
          </a:prstGeom>
          <a:ln w="19050">
            <a:solidFill>
              <a:srgbClr val="5375A8"/>
            </a:solidFill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7239000" y="3295650"/>
            <a:ext cx="1333500" cy="1343025"/>
          </a:xfrm>
          <a:prstGeom prst="line">
            <a:avLst/>
          </a:prstGeom>
          <a:ln w="19050">
            <a:solidFill>
              <a:srgbClr val="5375A8"/>
            </a:solidFill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4953000" y="2952750"/>
            <a:ext cx="2286000" cy="685800"/>
          </a:xfrm>
          <a:prstGeom prst="roundRect">
            <a:avLst>
              <a:gd name="adj" fmla="val 16667"/>
            </a:avLst>
          </a:prstGeom>
          <a:solidFill>
            <a:srgbClr val="102142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4953000" y="2952750"/>
            <a:ext cx="76200" cy="685800"/>
          </a:xfrm>
          <a:prstGeom prst="roundRect">
            <a:avLst>
              <a:gd name="adj" fmla="val 50000"/>
            </a:avLst>
          </a:prstGeom>
          <a:solidFill>
            <a:srgbClr val="A779FF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143500" y="3067050"/>
            <a:ext cx="1952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1875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肉鸽</a:t>
            </a:r>
            <a:r>
              <a:rPr lang="zh-CN" sz="1875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游戏</a:t>
            </a:r>
            <a:endParaRPr lang="zh-CN" sz="1875" b="1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00075" y="1028700"/>
            <a:ext cx="2476500" cy="1123950"/>
          </a:xfrm>
          <a:prstGeom prst="roundRect">
            <a:avLst>
              <a:gd name="adj" fmla="val 10169"/>
            </a:avLst>
          </a:prstGeom>
          <a:solidFill>
            <a:srgbClr val="102142"/>
          </a:solidFill>
          <a:ln w="0">
            <a:noFill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523875" y="102870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59E4DF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14375" y="1143000"/>
            <a:ext cx="2143125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美术方向</a:t>
            </a:r>
            <a:r>
              <a:rPr lang="zh-CN"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1275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275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二次元角色</a:t>
            </a:r>
            <a:endParaRPr sz="1275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正比立绘</a:t>
            </a:r>
            <a:r>
              <a:rPr lang="en-US" altLang="zh-CN"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+Q</a:t>
            </a:r>
            <a:r>
              <a:rPr lang="zh-CN" altLang="en-US"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版＋武器</a:t>
            </a:r>
            <a:endParaRPr sz="1275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275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23875" y="4619625"/>
            <a:ext cx="2476500" cy="1123950"/>
          </a:xfrm>
          <a:prstGeom prst="roundRect">
            <a:avLst>
              <a:gd name="adj" fmla="val 10169"/>
            </a:avLst>
          </a:prstGeom>
          <a:solidFill>
            <a:srgbClr val="102142"/>
          </a:solidFill>
          <a:ln w="0">
            <a:noFill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523875" y="4619625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59E4DF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14375" y="4733925"/>
            <a:ext cx="2143125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</a:t>
            </a:r>
            <a:r>
              <a:rPr lang="zh-CN"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1275" b="0">
              <a:solidFill>
                <a:srgbClr val="A8B9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美术 + 1 程序</a:t>
            </a:r>
            <a:endParaRPr sz="1275" b="0">
              <a:solidFill>
                <a:srgbClr val="A8B9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 / 3 关卡 / 1 Boss</a:t>
            </a:r>
            <a:endParaRPr sz="1275" b="0">
              <a:solidFill>
                <a:srgbClr val="A8B9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572000" y="5095875"/>
            <a:ext cx="3048000" cy="1009650"/>
          </a:xfrm>
          <a:prstGeom prst="roundRect">
            <a:avLst>
              <a:gd name="adj" fmla="val 11321"/>
            </a:avLst>
          </a:prstGeom>
          <a:solidFill>
            <a:srgbClr val="102142"/>
          </a:solidFill>
          <a:ln w="0">
            <a:noFill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4572000" y="5095875"/>
            <a:ext cx="76200" cy="1009650"/>
          </a:xfrm>
          <a:prstGeom prst="roundRect">
            <a:avLst>
              <a:gd name="adj" fmla="val 50000"/>
            </a:avLst>
          </a:prstGeom>
          <a:solidFill>
            <a:srgbClr val="FFD889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762500" y="5210175"/>
            <a:ext cx="271462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机制原则</a:t>
            </a:r>
            <a:r>
              <a:rPr lang="zh-CN"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1275" b="0">
              <a:solidFill>
                <a:srgbClr val="A8B9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20–40 秒一次选择</a:t>
            </a:r>
            <a:r>
              <a:rPr lang="en-US"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</a:t>
            </a:r>
            <a:endParaRPr sz="1275" b="0">
              <a:solidFill>
                <a:srgbClr val="A8B9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每个关卡有</a:t>
            </a:r>
            <a:r>
              <a:rPr sz="1275" b="0">
                <a:solidFill>
                  <a:srgbClr val="A8B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个核心系统</a:t>
            </a:r>
            <a:endParaRPr sz="1275" b="0">
              <a:solidFill>
                <a:srgbClr val="A8B9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572500" y="3905250"/>
            <a:ext cx="3048000" cy="1466850"/>
          </a:xfrm>
          <a:prstGeom prst="roundRect">
            <a:avLst>
              <a:gd name="adj" fmla="val 7792"/>
            </a:avLst>
          </a:prstGeom>
          <a:solidFill>
            <a:srgbClr val="102142"/>
          </a:solidFill>
          <a:ln w="0">
            <a:noFill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8572500" y="3905250"/>
            <a:ext cx="76200" cy="1466850"/>
          </a:xfrm>
          <a:prstGeom prst="roundRect">
            <a:avLst>
              <a:gd name="adj" fmla="val 50000"/>
            </a:avLst>
          </a:prstGeom>
          <a:solidFill>
            <a:srgbClr val="FF7FB5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763000" y="4019550"/>
            <a:ext cx="2714625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地图</a:t>
            </a:r>
            <a:r>
              <a:rPr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候选方向</a:t>
            </a:r>
            <a:r>
              <a:rPr lang="zh-CN"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：</a:t>
            </a:r>
            <a:endParaRPr lang="zh-CN" sz="1275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国风，聊斋，西幻，魔法学院，</a:t>
            </a:r>
            <a:endParaRPr lang="zh-CN" sz="1275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月下巡礼、深海花园、假面渡口、霓虹山海、白塔失梦纸灯海、倒影剧团、星环坠落、花神失格、零时街区</a:t>
            </a:r>
            <a:endParaRPr sz="1275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704455" y="1446530"/>
            <a:ext cx="3411855" cy="1172845"/>
          </a:xfrm>
          <a:prstGeom prst="roundRect">
            <a:avLst>
              <a:gd name="adj" fmla="val 11321"/>
            </a:avLst>
          </a:prstGeom>
          <a:solidFill>
            <a:srgbClr val="102142"/>
          </a:solidFill>
          <a:ln w="0">
            <a:noFill/>
          </a:ln>
        </p:spPr>
      </p:sp>
      <p:sp>
        <p:nvSpPr>
          <p:cNvPr id="27" name="文本框 26"/>
          <p:cNvSpPr txBox="1"/>
          <p:nvPr/>
        </p:nvSpPr>
        <p:spPr>
          <a:xfrm>
            <a:off x="7790815" y="1612265"/>
            <a:ext cx="3412490" cy="773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世界观：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多个故事世界交点上的⼀所学校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容纳不同地区不同种族的学⽣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（⻄幻/中幻等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59E4DF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371475"/>
            <a:ext cx="8382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55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255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核心</a:t>
            </a:r>
            <a:r>
              <a:rPr sz="255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玩法</a:t>
            </a:r>
            <a:endParaRPr sz="2550" b="1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75335" y="1052195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在重复的挑战中通过选择随机组合获得新鲜的体验，</a:t>
            </a:r>
            <a:r>
              <a:rPr sz="1400">
                <a:sym typeface="+mn-ea"/>
              </a:rPr>
              <a:t>差异由升级组合和关卡事件产生。</a:t>
            </a:r>
            <a:endParaRPr lang="zh-CN" altLang="en-US" sz="1400" b="0">
              <a:solidFill>
                <a:srgbClr val="A8B9D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2130" y="1692275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>
              <a:defRPr sz="1875" b="1">
                <a:solidFill>
                  <a:srgbClr val="A779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A779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局内</a:t>
            </a:r>
            <a:r>
              <a:rPr lang="zh-CN" sz="1875" b="1">
                <a:solidFill>
                  <a:srgbClr val="A779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选择</a:t>
            </a:r>
            <a:endParaRPr lang="zh-CN" sz="1875" b="1">
              <a:solidFill>
                <a:srgbClr val="A779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2130" y="2879725"/>
            <a:ext cx="5944235" cy="603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25000"/>
          </a:bodyPr>
          <a:lstStyle/>
          <a:p>
            <a:pPr>
              <a:defRPr sz="150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560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 个左右升级项</a:t>
            </a:r>
            <a:r>
              <a:rPr lang="zh-CN" sz="5600" b="0">
                <a:solidFill>
                  <a:srgbClr val="EAF2FF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：</a:t>
            </a:r>
            <a:r>
              <a:rPr lang="zh-CN" altLang="en-US" sz="5600" b="0">
                <a:solidFill>
                  <a:srgbClr val="EAF2FF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⾎/蓝/防/输出/技能读条/⾦币/</a:t>
            </a:r>
            <a:r>
              <a:rPr lang="en-US" altLang="zh-CN" sz="5600" b="0">
                <a:solidFill>
                  <a:srgbClr val="EAF2FF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buff</a:t>
            </a:r>
            <a:r>
              <a:rPr lang="zh-CN" altLang="en-US" sz="5600" b="0">
                <a:solidFill>
                  <a:srgbClr val="EAF2FF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时间</a:t>
            </a:r>
            <a:r>
              <a:rPr lang="en-US" altLang="zh-CN" sz="5600" b="0">
                <a:solidFill>
                  <a:srgbClr val="EAF2FF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/</a:t>
            </a:r>
            <a:r>
              <a:rPr lang="zh-CN" altLang="en-US" sz="5600" b="0">
                <a:solidFill>
                  <a:srgbClr val="EAF2FF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清怪效率/技能量</a:t>
            </a:r>
            <a:endParaRPr lang="zh-CN" altLang="en-US" sz="5600" b="0">
              <a:solidFill>
                <a:srgbClr val="EAF2FF"/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286750" y="161925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/>
          </a:bodyPr>
          <a:lstStyle/>
          <a:p>
            <a:pPr>
              <a:defRPr sz="1875" b="1">
                <a:solidFill>
                  <a:srgbClr val="FF7FB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F7FB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内容目标</a:t>
            </a:r>
            <a:endParaRPr sz="1875" b="1">
              <a:solidFill>
                <a:srgbClr val="FF7FB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86750" y="2143125"/>
            <a:ext cx="24765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个主题关卡</a:t>
            </a:r>
            <a:endParaRPr sz="1500" b="0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0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个最终 Boss</a:t>
            </a:r>
            <a:endParaRPr sz="1500" b="0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0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 至 10 类敌人</a:t>
            </a:r>
            <a:endParaRPr sz="1500" b="0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9590" y="2139950"/>
            <a:ext cx="602678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120"/>
          </a:bodyPr>
          <a:lstStyle/>
          <a:p>
            <a:pPr>
              <a:defRPr sz="2025" b="1">
                <a:solidFill>
                  <a:srgbClr val="FFD88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FFD8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每 20–40 秒让玩家完成一次选择：拿资源、换规则、改技能，或承受风险换取更高回报。</a:t>
            </a:r>
            <a:endParaRPr sz="2025" b="1">
              <a:solidFill>
                <a:srgbClr val="FFD8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590" y="3781425"/>
            <a:ext cx="7144385" cy="25933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110" y="4544060"/>
            <a:ext cx="3160395" cy="1317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59E4DF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371475"/>
            <a:ext cx="8382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55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sz="255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角色</a:t>
            </a:r>
            <a:endParaRPr lang="zh-CN" sz="2550" b="1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81620" y="227203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总结：</a:t>
            </a:r>
            <a:endParaRPr 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 sz="12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、不同角色技能机制不同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 sz="12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、可以找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npc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（老师）强化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 sz="12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、商人可交易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 sz="12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、剧情人物可出发奇遇，获得正负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buff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 sz="12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、背包：武器，材料存放有限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1370965"/>
            <a:ext cx="7318375" cy="49314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805" y="5806440"/>
            <a:ext cx="1415415" cy="4959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180" y="5498465"/>
            <a:ext cx="1415415" cy="8039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5498465"/>
            <a:ext cx="1415415" cy="8039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70" y="1370965"/>
            <a:ext cx="890905" cy="5060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55" y="1504315"/>
            <a:ext cx="1415415" cy="18923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930" y="4516755"/>
            <a:ext cx="4333875" cy="15836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美术方向</a:t>
            </a: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参考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7220" y="1238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局内</a:t>
            </a:r>
            <a:r>
              <a:rPr lang="zh-CN" altLang="en-US">
                <a:solidFill>
                  <a:schemeClr val="bg1"/>
                </a:solidFill>
              </a:rPr>
              <a:t>布局：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720" y="2092960"/>
            <a:ext cx="3674110" cy="208661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" y="4321175"/>
            <a:ext cx="3950335" cy="218376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235" y="4321175"/>
            <a:ext cx="3674110" cy="208978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540" y="2419985"/>
            <a:ext cx="3086100" cy="178244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405" y="4406900"/>
            <a:ext cx="3531235" cy="200406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8495" y="2192020"/>
            <a:ext cx="3600450" cy="20808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0235" y="184150"/>
            <a:ext cx="3648710" cy="18726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1355" y="283210"/>
            <a:ext cx="3623310" cy="1674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美术方向</a:t>
            </a: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参考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7220" y="1238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国风地图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1095" y="292735"/>
            <a:ext cx="2197100" cy="12357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195" y="1606550"/>
            <a:ext cx="1473835" cy="10617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805" y="2696210"/>
            <a:ext cx="1753235" cy="9861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35" y="1748155"/>
            <a:ext cx="3050540" cy="41001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140" y="-67310"/>
            <a:ext cx="2402840" cy="6858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320" y="292735"/>
            <a:ext cx="2925445" cy="168021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0980" y="2044700"/>
            <a:ext cx="2978785" cy="48133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100" y="3853815"/>
            <a:ext cx="2573020" cy="258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美术方向</a:t>
            </a: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参考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7220" y="1238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角色立绘：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965" y="1238250"/>
            <a:ext cx="931545" cy="20231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603625" y="1238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局内</a:t>
            </a:r>
            <a:r>
              <a:rPr lang="en-US" altLang="zh-CN">
                <a:solidFill>
                  <a:schemeClr val="bg1"/>
                </a:solidFill>
              </a:rPr>
              <a:t>q</a:t>
            </a:r>
            <a:r>
              <a:rPr lang="zh-CN" altLang="en-US">
                <a:solidFill>
                  <a:schemeClr val="bg1"/>
                </a:solidFill>
              </a:rPr>
              <a:t>版</a:t>
            </a:r>
            <a:r>
              <a:rPr lang="zh-CN" altLang="en-US">
                <a:solidFill>
                  <a:schemeClr val="bg1"/>
                </a:solidFill>
              </a:rPr>
              <a:t>角色：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660" y="1748155"/>
            <a:ext cx="1288415" cy="18275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660" y="3643630"/>
            <a:ext cx="1816735" cy="10115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505" y="690245"/>
            <a:ext cx="1172845" cy="14732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794625" y="136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局内</a:t>
            </a:r>
            <a:r>
              <a:rPr lang="zh-CN" altLang="en-US">
                <a:solidFill>
                  <a:schemeClr val="bg1"/>
                </a:solidFill>
              </a:rPr>
              <a:t>小怪：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4920" y="379730"/>
            <a:ext cx="1220470" cy="24942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680" y="1713230"/>
            <a:ext cx="1299845" cy="13392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300" y="2929255"/>
            <a:ext cx="2206625" cy="2063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020" y="5440680"/>
            <a:ext cx="936625" cy="1308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545" y="3677285"/>
            <a:ext cx="1131570" cy="17297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9070" y="3261360"/>
            <a:ext cx="1563370" cy="187769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745" y="1748155"/>
            <a:ext cx="1232535" cy="18954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0515" y="5333365"/>
            <a:ext cx="943610" cy="139573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2635" y="2299335"/>
            <a:ext cx="2205990" cy="2947035"/>
          </a:xfrm>
          <a:prstGeom prst="rect">
            <a:avLst/>
          </a:prstGeom>
        </p:spPr>
      </p:pic>
      <p:pic>
        <p:nvPicPr>
          <p:cNvPr id="6" name="图片 5" descr="316666223344058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6675" y="1238250"/>
            <a:ext cx="1652270" cy="2338070"/>
          </a:xfrm>
          <a:prstGeom prst="rect">
            <a:avLst/>
          </a:prstGeom>
        </p:spPr>
      </p:pic>
      <p:pic>
        <p:nvPicPr>
          <p:cNvPr id="18" name="图片 17" descr="ボード「Q版」のピン _ キャラクターデザイン, ちびキャラ ポーズ, イラスト コンペ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2110" y="3643630"/>
            <a:ext cx="1346835" cy="2020570"/>
          </a:xfrm>
          <a:prstGeom prst="rect">
            <a:avLst/>
          </a:prstGeom>
        </p:spPr>
      </p:pic>
      <p:pic>
        <p:nvPicPr>
          <p:cNvPr id="20" name="图片 19" descr="135108676270691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32200" y="4934585"/>
            <a:ext cx="1693545" cy="1501140"/>
          </a:xfrm>
          <a:prstGeom prst="rect">
            <a:avLst/>
          </a:prstGeom>
        </p:spPr>
      </p:pic>
      <p:pic>
        <p:nvPicPr>
          <p:cNvPr id="23" name="图片 22" descr="6579484455307500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64120" y="5095875"/>
            <a:ext cx="1246505" cy="1558290"/>
          </a:xfrm>
          <a:prstGeom prst="rect">
            <a:avLst/>
          </a:prstGeom>
        </p:spPr>
      </p:pic>
      <p:pic>
        <p:nvPicPr>
          <p:cNvPr id="28" name="图片 27" descr="下载 (1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56675" y="5333365"/>
            <a:ext cx="2376805" cy="1321435"/>
          </a:xfrm>
          <a:prstGeom prst="rect">
            <a:avLst/>
          </a:prstGeom>
        </p:spPr>
      </p:pic>
      <p:pic>
        <p:nvPicPr>
          <p:cNvPr id="30" name="图片 29" descr="首頁 _ 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3950" y="169545"/>
            <a:ext cx="1336675" cy="1195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美术方向</a:t>
            </a: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参考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7220" y="1238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BOSS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85460" y="1238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npc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85" y="1835785"/>
            <a:ext cx="2753995" cy="1536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3478530"/>
            <a:ext cx="1916430" cy="14014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955" y="3412490"/>
            <a:ext cx="1325245" cy="17608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905" y="1678305"/>
            <a:ext cx="1839595" cy="18738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150" y="1786255"/>
            <a:ext cx="1192530" cy="143129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586470" y="1238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ui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500" y="3052445"/>
            <a:ext cx="1703070" cy="191706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4255" y="3217545"/>
            <a:ext cx="1779905" cy="175196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680" y="1712595"/>
            <a:ext cx="1673860" cy="17659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195" y="4879975"/>
            <a:ext cx="1563370" cy="180911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735" y="5098415"/>
            <a:ext cx="1445895" cy="162814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2370" y="5029835"/>
            <a:ext cx="1324610" cy="17653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2"/>
          <a:stretch>
            <a:fillRect/>
          </a:stretch>
        </p:blipFill>
        <p:spPr>
          <a:xfrm>
            <a:off x="1853565" y="5152390"/>
            <a:ext cx="2827655" cy="1536700"/>
          </a:xfrm>
          <a:prstGeom prst="rect">
            <a:avLst/>
          </a:prstGeom>
        </p:spPr>
      </p:pic>
      <p:pic>
        <p:nvPicPr>
          <p:cNvPr id="12" name="图片 11" descr="218149981656146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62945" y="173355"/>
            <a:ext cx="1209040" cy="2621280"/>
          </a:xfrm>
          <a:prstGeom prst="rect">
            <a:avLst/>
          </a:prstGeom>
        </p:spPr>
      </p:pic>
      <p:pic>
        <p:nvPicPr>
          <p:cNvPr id="14" name="图片 13" descr="Mobile App Design · Dark Romance Victorian UI Concept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88475" y="173355"/>
            <a:ext cx="1474470" cy="2621280"/>
          </a:xfrm>
          <a:prstGeom prst="rect">
            <a:avLst/>
          </a:prstGeom>
        </p:spPr>
      </p:pic>
      <p:pic>
        <p:nvPicPr>
          <p:cNvPr id="28" name="图片 27" descr="下载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34575" y="2889885"/>
            <a:ext cx="2137410" cy="1202690"/>
          </a:xfrm>
          <a:prstGeom prst="rect">
            <a:avLst/>
          </a:prstGeom>
        </p:spPr>
      </p:pic>
      <p:pic>
        <p:nvPicPr>
          <p:cNvPr id="29" name="图片 28" descr="pixel art - interface for the game, Alona Fedorova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91575" y="2889885"/>
            <a:ext cx="1036320" cy="1202055"/>
          </a:xfrm>
          <a:prstGeom prst="rect">
            <a:avLst/>
          </a:prstGeom>
        </p:spPr>
      </p:pic>
      <p:pic>
        <p:nvPicPr>
          <p:cNvPr id="30" name="图片 29" descr="Health_status bars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06610" y="4271645"/>
            <a:ext cx="1823085" cy="1080770"/>
          </a:xfrm>
          <a:prstGeom prst="rect">
            <a:avLst/>
          </a:prstGeom>
        </p:spPr>
      </p:pic>
      <p:pic>
        <p:nvPicPr>
          <p:cNvPr id="31" name="图片 30" descr="下载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88475" y="5400040"/>
            <a:ext cx="2496185" cy="1395095"/>
          </a:xfrm>
          <a:prstGeom prst="rect">
            <a:avLst/>
          </a:prstGeom>
        </p:spPr>
      </p:pic>
      <p:pic>
        <p:nvPicPr>
          <p:cNvPr id="32" name="图片 31" descr="Imaginarium Theater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24700" y="69215"/>
            <a:ext cx="2176145" cy="1224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美术方向</a:t>
            </a: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参考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7220" y="1238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西幻地图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270" y="1748155"/>
            <a:ext cx="1349375" cy="17926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335" y="1748155"/>
            <a:ext cx="997585" cy="21621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225" y="0"/>
            <a:ext cx="240411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465" y="-2410460"/>
            <a:ext cx="252603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60" y="3725545"/>
            <a:ext cx="2404745" cy="13449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2085" y="4103370"/>
            <a:ext cx="3282950" cy="147701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875" y="3653790"/>
            <a:ext cx="2233295" cy="251142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5970" y="1030605"/>
            <a:ext cx="1841500" cy="26949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59E4DF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371475"/>
            <a:ext cx="8382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55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《霓虹山海》</a:t>
            </a:r>
            <a:endParaRPr sz="2550" b="1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904875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兽印嵌槽驱动的都市异能战斗</a:t>
            </a:r>
            <a:endParaRPr sz="1200" b="0">
              <a:solidFill>
                <a:srgbClr val="A8B9D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620250" y="4000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05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毕业设计策划  ·  07</a:t>
            </a:r>
            <a:endParaRPr sz="1050" b="0">
              <a:solidFill>
                <a:srgbClr val="A8B9D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t="9272" b="9272"/>
          <a:stretch>
            <a:fillRect/>
          </a:stretch>
        </p:blipFill>
        <p:spPr>
          <a:xfrm>
            <a:off x="6858000" y="1285875"/>
            <a:ext cx="4476750" cy="4857750"/>
          </a:xfrm>
          <a:prstGeom prst="roundRect">
            <a:avLst>
              <a:gd name="adj" fmla="val 2553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666750" y="1333500"/>
            <a:ext cx="5429250" cy="4714875"/>
          </a:xfrm>
          <a:prstGeom prst="roundRect">
            <a:avLst>
              <a:gd name="adj" fmla="val 2424"/>
            </a:avLst>
          </a:prstGeom>
          <a:solidFill>
            <a:srgbClr val="102142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6192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/>
          </a:bodyPr>
          <a:lstStyle/>
          <a:p>
            <a:pPr>
              <a:defRPr sz="1500" b="1">
                <a:solidFill>
                  <a:srgbClr val="59E4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9E4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局内循环</a:t>
            </a:r>
            <a:endParaRPr sz="1500" b="1">
              <a:solidFill>
                <a:srgbClr val="59E4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193357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击败异兽获得兽印，将兽印嵌入普攻、闪避、技能或终结技的槽位。</a:t>
            </a:r>
            <a:endParaRPr sz="1350" b="0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7622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/>
          </a:bodyPr>
          <a:lstStyle/>
          <a:p>
            <a:pPr>
              <a:defRPr sz="1500" b="1">
                <a:solidFill>
                  <a:srgbClr val="59E4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9E4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玩家抉择</a:t>
            </a:r>
            <a:endParaRPr sz="1500" b="1">
              <a:solidFill>
                <a:srgbClr val="59E4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07657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同一兽印放在哪里，决定它成为稳定输出、位移爆发，还是清屏技能。</a:t>
            </a:r>
            <a:endParaRPr sz="1350" b="0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9052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/>
          </a:bodyPr>
          <a:lstStyle/>
          <a:p>
            <a:pPr>
              <a:defRPr sz="1500" b="1">
                <a:solidFill>
                  <a:srgbClr val="59E4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9E4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构筑表达</a:t>
            </a:r>
            <a:endParaRPr sz="1500" b="1">
              <a:solidFill>
                <a:srgbClr val="59E4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21957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夔牛印：普攻变雷链，闪避落雷，终结技变雷暴。不同兽印组合形成元素流派。</a:t>
            </a:r>
            <a:endParaRPr sz="1350" b="0">
              <a:solidFill>
                <a:srgbClr val="EAF2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9150" y="502920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/>
          </a:bodyPr>
          <a:lstStyle/>
          <a:p>
            <a:pPr>
              <a:defRPr sz="1500" b="1">
                <a:solidFill>
                  <a:srgbClr val="FF7FB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7FB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开发收束</a:t>
            </a:r>
            <a:endParaRPr sz="1500" b="1">
              <a:solidFill>
                <a:srgbClr val="FF7FB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9150" y="53435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A8B9D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 种兽印、4 个固定槽位。无需开发大量独立武器。</a:t>
            </a:r>
            <a:endParaRPr sz="1275" b="0">
              <a:solidFill>
                <a:srgbClr val="A8B9D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91350" y="5715000"/>
            <a:ext cx="4095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625"/>
          </a:bodyPr>
          <a:lstStyle/>
          <a:p>
            <a:pPr>
              <a:defRPr sz="1200" b="1">
                <a:solidFill>
                  <a:srgbClr val="FFD88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D8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用槽位复用内容，让都市山海更有辨识度</a:t>
            </a:r>
            <a:endParaRPr sz="1200" b="1">
              <a:solidFill>
                <a:srgbClr val="FFD8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世界观《渡山海》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7220" y="1238250"/>
            <a:ext cx="1113409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世界观：这是一个以“世界塔”为中心的世界，它被重重山脉环绕，层层的高塔；外面的守护堡垒里有各种神兽，统治各个地方的秩序；守护堡垒外是带有剧毒的无色池，无色无味但带有剧毒；无色池外是带有熊熊火焰的死亡山谷，任何事物掉下去都会瞬间变得灰飞烟灭；死亡山谷外是禁忌冰川，所有的生物仿佛没有呼吸，安静得像夜晚，据说是一颗陨石掉落再次，释放无数无法解释的冰冻气息，有生物研究这种气息，发现其中的能量，慢慢孕育出“魔法”被外人视为禁忌巫术；禁忌冰川外面是大森林，白天是生机勃勃的生命聚合地，晚上是暗藏杀机的危险暗杀地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有一天，一个身穿布衣的人（你）缓缓醒来，身边有一个双目失明的人自称为老师，说明你因为在森林里收集食材时遇到危险昏迷了，看你这么久没回来才发现出事了，才把你带回来。你不记得发生了什么事，老师告诉你，这个世界出事了，世界塔倾斜并损坏了，各种碎片飞溅到世界各地，引发了各种灾害。你的内心隐隐觉得这件事可能与你有关，内心好像有个声音不断催促你前往世界塔，于是思考再三，决定前往世界塔一探究竟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6" name="图片 5" descr="[전시작품] 구름 위의 탑; Tower Above the Cloud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2260" y="4150360"/>
            <a:ext cx="1718310" cy="2583815"/>
          </a:xfrm>
          <a:prstGeom prst="rect">
            <a:avLst/>
          </a:prstGeom>
        </p:spPr>
      </p:pic>
      <p:pic>
        <p:nvPicPr>
          <p:cNvPr id="8" name="图片 7" descr="Башня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005" y="4329430"/>
            <a:ext cx="2794000" cy="22967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世界观《渡山海》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7220" y="1238250"/>
            <a:ext cx="1113409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生物种：不可名状的神祇(诞生与外来宇宙的混沌之中，人类无法想象），神人/神兽（为所属神祇干活），异兽（生活了很久的生物学成了某种能力），精怪（平凡生物灵化），凡人。人和神人本质上无区别，神人是由人化来的（机密！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世界塔崩坏的原因：传说这片大地来了一个外来神祇，其气息阴冷崇尚脑袋，为了占领这片大地，他将自己的意志碎片散落到这里，也就是“腐蚀雨事件”沾染上的人和兽会长出新的脑袋，脑袋会不自觉的颤抖（摇头鬼）被迫攻击本地的其他生物，浑身散发出腐烂的气息。有一个长了9个脑袋的人，脖子长的像蛇，后来直接化为蛇身，被这位神祇名为（名字没想好），他作为摇头鬼的总领打入大地的中心，所到之处无不化为沼泽，后来被某位神人打败，被压制在大地之下，上建立世界塔，并请求各地神人来此地镇压。但是有一个脑袋自行切断偷偷逃到了外面，但是因为受到了重创，双目失明，脸部极其腐败，经过漫长的修炼逐渐长成人型，接收到外来的神祇指示，重新打入世界塔。他找到了残留在世界上的摇头鬼余党，一起密谋了破坏世界塔的计划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 descr="151997174923873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8665" y="4382770"/>
            <a:ext cx="1348740" cy="2406015"/>
          </a:xfrm>
          <a:prstGeom prst="rect">
            <a:avLst/>
          </a:prstGeom>
        </p:spPr>
      </p:pic>
      <p:pic>
        <p:nvPicPr>
          <p:cNvPr id="7" name="图片 6" descr="q['l']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075" y="4382770"/>
            <a:ext cx="1806575" cy="2409190"/>
          </a:xfrm>
          <a:prstGeom prst="rect">
            <a:avLst/>
          </a:prstGeom>
        </p:spPr>
      </p:pic>
      <p:pic>
        <p:nvPicPr>
          <p:cNvPr id="9" name="图片 8" descr="4702743861100631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5" y="4350385"/>
            <a:ext cx="1838960" cy="2438400"/>
          </a:xfrm>
          <a:prstGeom prst="rect">
            <a:avLst/>
          </a:prstGeom>
        </p:spPr>
      </p:pic>
      <p:pic>
        <p:nvPicPr>
          <p:cNvPr id="10" name="图片 9" descr="Ektus Treeforged (Small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885" y="4374515"/>
            <a:ext cx="2417445" cy="24174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角色概念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6" name="图片 5" descr="8a0ebe1851be7af42f9ca5ce19831c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115" y="384175"/>
            <a:ext cx="5089525" cy="6217920"/>
          </a:xfrm>
          <a:prstGeom prst="rect">
            <a:avLst/>
          </a:prstGeom>
        </p:spPr>
      </p:pic>
      <p:pic>
        <p:nvPicPr>
          <p:cNvPr id="8" name="图片 7" descr="8dc39770b9ad159729c5ff614e9f1b3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980" y="1311910"/>
            <a:ext cx="2359025" cy="2359025"/>
          </a:xfrm>
          <a:prstGeom prst="rect">
            <a:avLst/>
          </a:prstGeom>
        </p:spPr>
      </p:pic>
      <p:pic>
        <p:nvPicPr>
          <p:cNvPr id="11" name="图片 10" descr="108583ecaf3dfa614c9487da4d12def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" y="3954145"/>
            <a:ext cx="4987290" cy="2197735"/>
          </a:xfrm>
          <a:prstGeom prst="rect">
            <a:avLst/>
          </a:prstGeom>
        </p:spPr>
      </p:pic>
      <p:pic>
        <p:nvPicPr>
          <p:cNvPr id="12" name="图片 11" descr="69d8eb9418971135198dc4cba06503e3"/>
          <p:cNvPicPr>
            <a:picLocks noChangeAspect="1"/>
          </p:cNvPicPr>
          <p:nvPr/>
        </p:nvPicPr>
        <p:blipFill>
          <a:blip r:embed="rId4"/>
          <a:srcRect l="19486" t="41491" r="9606" b="6343"/>
          <a:stretch>
            <a:fillRect/>
          </a:stretch>
        </p:blipFill>
        <p:spPr>
          <a:xfrm>
            <a:off x="904240" y="1861820"/>
            <a:ext cx="1737360" cy="18091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地图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005" y="1314450"/>
            <a:ext cx="9688195" cy="51231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CG</a:t>
            </a:r>
            <a:endParaRPr lang="en-US" altLang="zh-CN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275" y="1096645"/>
            <a:ext cx="9612630" cy="54013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8">
              <a:alpha val="8000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7220" y="474345"/>
            <a:ext cx="3458210" cy="62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>
              <a:defRPr sz="3900" b="1">
                <a:solidFill>
                  <a:srgbClr val="EAF2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3900" b="1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计划</a:t>
            </a:r>
            <a:endParaRPr lang="zh-CN" altLang="en-US" sz="3900" b="1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820" y="391160"/>
            <a:ext cx="6951980" cy="62147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BLACK MYTH_ WUKO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523490" cy="4485005"/>
          </a:xfrm>
          <a:prstGeom prst="rect">
            <a:avLst/>
          </a:prstGeom>
        </p:spPr>
      </p:pic>
      <p:pic>
        <p:nvPicPr>
          <p:cNvPr id="5" name="图片 4" descr="3206000672459875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490" y="0"/>
            <a:ext cx="3861435" cy="6858000"/>
          </a:xfrm>
          <a:prstGeom prst="rect">
            <a:avLst/>
          </a:prstGeom>
        </p:spPr>
      </p:pic>
      <p:pic>
        <p:nvPicPr>
          <p:cNvPr id="6" name="图片 5" descr="8524470357653068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975" y="0"/>
            <a:ext cx="3056890" cy="5093335"/>
          </a:xfrm>
          <a:prstGeom prst="rect">
            <a:avLst/>
          </a:prstGeom>
        </p:spPr>
      </p:pic>
      <p:pic>
        <p:nvPicPr>
          <p:cNvPr id="7" name="图片 6" descr="7285276772533528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925" y="0"/>
            <a:ext cx="2675890" cy="2675890"/>
          </a:xfrm>
          <a:prstGeom prst="rect">
            <a:avLst/>
          </a:prstGeom>
        </p:spPr>
      </p:pic>
      <p:pic>
        <p:nvPicPr>
          <p:cNvPr id="8" name="图片 7" descr="Goddes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555" y="2675890"/>
            <a:ext cx="2725420" cy="4612640"/>
          </a:xfrm>
          <a:prstGeom prst="rect">
            <a:avLst/>
          </a:prstGeom>
        </p:spPr>
      </p:pic>
      <p:pic>
        <p:nvPicPr>
          <p:cNvPr id="9" name="图片 8" descr="下载 (2)"/>
          <p:cNvPicPr>
            <a:picLocks noChangeAspect="1"/>
          </p:cNvPicPr>
          <p:nvPr/>
        </p:nvPicPr>
        <p:blipFill>
          <a:blip r:embed="rId8"/>
          <a:srcRect l="20749"/>
          <a:stretch>
            <a:fillRect/>
          </a:stretch>
        </p:blipFill>
        <p:spPr>
          <a:xfrm>
            <a:off x="9060815" y="4485005"/>
            <a:ext cx="3131185" cy="2372995"/>
          </a:xfrm>
          <a:prstGeom prst="rect">
            <a:avLst/>
          </a:prstGeom>
        </p:spPr>
      </p:pic>
      <p:pic>
        <p:nvPicPr>
          <p:cNvPr id="10" name="图片 9" descr="Ektus Treeforged (Small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147820"/>
            <a:ext cx="2710180" cy="27101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1619</Words>
  <Application>WPS 演示</Application>
  <PresentationFormat>宽屏</PresentationFormat>
  <Paragraphs>124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Arial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WPS_1639830248</cp:lastModifiedBy>
  <cp:revision>167</cp:revision>
  <dcterms:created xsi:type="dcterms:W3CDTF">2019-06-19T02:08:00Z</dcterms:created>
  <dcterms:modified xsi:type="dcterms:W3CDTF">2026-09-29T02:27:02Z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AFFC3D903D054A1A832AAE9C5AFF9222_13</vt:lpwstr>
  </property>
</Properties>
</file>